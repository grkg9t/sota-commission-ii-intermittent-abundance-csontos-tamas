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48840"/>
            <a:ext cx="9601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BESS as Process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Life-Insurance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118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C9CEE8"/>
                </a:solidFill>
                <a:latin typeface="Calibri"/>
              </a:rPr>
              <a:t>Which reservation strategy, and when?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C9CEE8"/>
                </a:solidFill>
                <a:latin typeface="Calibri"/>
              </a:rPr>
              <a:t>A systematic comparison for intermittent solar-to-methane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8C96C9"/>
                </a:solidFill>
                <a:latin typeface="Calibri"/>
              </a:rPr>
              <a:t>SOTA COMMISSION II  —  INTERMITTENT ABUNDANCE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mbria"/>
              </a:rPr>
              <a:t>A cold reactor costs more than a lost kilowatt-hour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6309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Remote, off-grid plants that convert solar electricity into a storable fuel, here synthetic methane via Sabatier synthesis, run into an intermittency problem that conventional battery controllers do not account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63093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64592" marL="164592">
              <a:lnSpc>
                <a:spcPct val="118000"/>
              </a:lnSpc>
              <a:spcAft>
                <a:spcPts val="800"/>
              </a:spcAft>
              <a:buFont typeface="Calibri"/>
              <a:buChar char="–"/>
            </a:pPr>
            <a:r>
              <a:rPr b="1" sz="1350">
                <a:solidFill>
                  <a:srgbClr val="1E2761"/>
                </a:solidFill>
                <a:latin typeface="Calibri"/>
              </a:rPr>
              <a:t>Every kWh looks the same.  </a:t>
            </a:r>
            <a:r>
              <a:rPr sz="1350">
                <a:solidFill>
                  <a:srgbClr val="1A1A1A"/>
                </a:solidFill>
                <a:latin typeface="Calibri"/>
              </a:rPr>
              <a:t>A controller that only tracks the electrical balance treats an idled electrolyzer the same as a reactor left to go cold.</a:t>
            </a:r>
          </a:p>
          <a:p>
            <a:pPr indent="-164592" marL="164592">
              <a:lnSpc>
                <a:spcPct val="118000"/>
              </a:lnSpc>
              <a:spcAft>
                <a:spcPts val="800"/>
              </a:spcAft>
              <a:buFont typeface="Calibri"/>
              <a:buChar char="–"/>
            </a:pPr>
            <a:r>
              <a:rPr b="1" sz="1350">
                <a:solidFill>
                  <a:srgbClr val="1E2761"/>
                </a:solidFill>
                <a:latin typeface="Calibri"/>
              </a:rPr>
              <a:t>Cold means idle.  </a:t>
            </a:r>
            <a:r>
              <a:rPr sz="1350">
                <a:solidFill>
                  <a:srgbClr val="1A1A1A"/>
                </a:solidFill>
                <a:latin typeface="Calibri"/>
              </a:rPr>
              <a:t>Restarting the Sabatier reactor costs 4–6 hours of dedicated, high-power reheating — time that comes directly out of production.</a:t>
            </a:r>
          </a:p>
          <a:p>
            <a:pPr indent="-164592" marL="164592">
              <a:lnSpc>
                <a:spcPct val="118000"/>
              </a:lnSpc>
              <a:spcAft>
                <a:spcPts val="800"/>
              </a:spcAft>
              <a:buFont typeface="Calibri"/>
              <a:buChar char="–"/>
            </a:pPr>
            <a:r>
              <a:rPr b="1" sz="1350">
                <a:solidFill>
                  <a:srgbClr val="1E2761"/>
                </a:solidFill>
                <a:latin typeface="Calibri"/>
              </a:rPr>
              <a:t>The real question.  </a:t>
            </a:r>
            <a:r>
              <a:rPr sz="1350">
                <a:solidFill>
                  <a:srgbClr val="1A1A1A"/>
                </a:solidFill>
                <a:latin typeface="Calibri"/>
              </a:rPr>
              <a:t>An earlier prototype showed proactive battery reservation helps. But reservation is a whole design space — which mechanism is worth building, and where?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783080"/>
            <a:ext cx="4160520" cy="41605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2148840"/>
            <a:ext cx="3657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 i="0">
                <a:solidFill>
                  <a:srgbClr val="1E2761"/>
                </a:solidFill>
                <a:latin typeface="Cambria"/>
              </a:rPr>
              <a:t>4–6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324612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5B6372"/>
                </a:solidFill>
                <a:latin typeface="Calibri"/>
              </a:rPr>
              <a:t>HOURS OF LOST PRODUCTION PER COLD-START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977639"/>
            <a:ext cx="3566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This project builds and compares seven distinct battery-reservation strategies on one shared digital twin, across three climates and four levels of forecast error — 84 full-year simulations in total.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9AA1A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ARCHITECTURE &amp;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mbria"/>
              </a:rPr>
              <a:t>One digital twin, seven interchangeable strategies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965960" cy="566928"/>
          </a:xfrm>
          <a:prstGeom prst="roundRect">
            <a:avLst>
              <a:gd name="adj" fmla="val 12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92630E"/>
                </a:solidFill>
                <a:latin typeface="Calibri"/>
              </a:rPr>
              <a:t>PV Array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874519"/>
            <a:ext cx="1965960" cy="566928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>
                <a:solidFill>
                  <a:srgbClr val="1A1A1A"/>
                </a:solidFill>
                <a:latin typeface="Calibri"/>
              </a:rPr>
              <a:t>Electrolyzer
+ DAC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79192" y="2048255"/>
            <a:ext cx="630936" cy="219456"/>
          </a:xfrm>
          <a:prstGeom prst="rightArrow">
            <a:avLst/>
          </a:prstGeom>
          <a:solidFill>
            <a:srgbClr val="9AA1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79192" y="2258567"/>
            <a:ext cx="6309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Calibri"/>
              </a:rPr>
              <a:t>PV surplus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44951"/>
            <a:ext cx="1965960" cy="566928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Battery
(BESS)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044951"/>
            <a:ext cx="1965960" cy="566928"/>
          </a:xfrm>
          <a:prstGeom prst="roundRect">
            <a:avLst>
              <a:gd name="adj" fmla="val 12000"/>
            </a:avLst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>
                <a:solidFill>
                  <a:srgbClr val="9A2A2A"/>
                </a:solidFill>
                <a:latin typeface="Calibri"/>
              </a:rPr>
              <a:t>Sabatier reactor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79192" y="3218687"/>
            <a:ext cx="630936" cy="219456"/>
          </a:xfrm>
          <a:prstGeom prst="rightArrow">
            <a:avLst/>
          </a:prstGeom>
          <a:solidFill>
            <a:srgbClr val="9AA1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3428999"/>
            <a:ext cx="6309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Calibri"/>
              </a:rPr>
              <a:t>full battery access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513332" y="2487167"/>
            <a:ext cx="219456" cy="512064"/>
          </a:xfrm>
          <a:prstGeom prst="downArrow">
            <a:avLst/>
          </a:prstGeom>
          <a:solidFill>
            <a:srgbClr val="9AA1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886199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2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RTU  —  deterministic hard-limit layer (SOC bounds, load caps, reserve lock)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53127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5B6372"/>
                </a:solidFill>
                <a:latin typeface="Calibri"/>
              </a:rPr>
              <a:t>Seven strategy modules plug into one shared decide() interface between the battery and the reactor —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5B6372"/>
                </a:solidFill>
                <a:latin typeface="Calibri"/>
              </a:rPr>
              <a:t>only the control logic changes between runs; the electrolyzer/DAC path above is identical for all seven.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291840" cy="420624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0574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ASSUMPTIONS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468880"/>
            <a:ext cx="27889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64592" marL="164592">
              <a:lnSpc>
                <a:spcPct val="118000"/>
              </a:lnSpc>
              <a:spcAft>
                <a:spcPts val="1000"/>
              </a:spcAft>
              <a:buFont typeface="Calibri"/>
              <a:buChar char="–"/>
            </a:pPr>
            <a:r>
              <a:rPr sz="1150">
                <a:solidFill>
                  <a:srgbClr val="1A1A1A"/>
                </a:solidFill>
                <a:latin typeface="Calibri"/>
              </a:rPr>
              <a:t>Sabatier cooling omits the reaction's own exothermic heat (conservative — real reactors cool somewhat more slowly).</a:t>
            </a:r>
          </a:p>
          <a:p>
            <a:pPr indent="-164592" marL="164592">
              <a:lnSpc>
                <a:spcPct val="118000"/>
              </a:lnSpc>
              <a:spcAft>
                <a:spcPts val="1000"/>
              </a:spcAft>
              <a:buFont typeface="Calibri"/>
              <a:buChar char="–"/>
            </a:pPr>
            <a:r>
              <a:rPr sz="1150">
                <a:solidFill>
                  <a:srgbClr val="1A1A1A"/>
                </a:solidFill>
                <a:latin typeface="Calibri"/>
              </a:rPr>
              <a:t>Battery model excludes long-term degradation.</a:t>
            </a:r>
          </a:p>
          <a:p>
            <a:pPr indent="-164592" marL="164592">
              <a:lnSpc>
                <a:spcPct val="118000"/>
              </a:lnSpc>
              <a:spcAft>
                <a:spcPts val="1000"/>
              </a:spcAft>
              <a:buFont typeface="Calibri"/>
              <a:buChar char="–"/>
            </a:pPr>
            <a:r>
              <a:rPr sz="1150">
                <a:solidFill>
                  <a:srgbClr val="1A1A1A"/>
                </a:solidFill>
                <a:latin typeface="Calibri"/>
              </a:rPr>
              <a:t>Forecast error is additive Gaussian noise, not the time-correlated, often-asymmetric error of real forecasts.</a:t>
            </a:r>
          </a:p>
          <a:p>
            <a:pPr indent="-164592" marL="164592">
              <a:lnSpc>
                <a:spcPct val="118000"/>
              </a:lnSpc>
              <a:spcAft>
                <a:spcPts val="1000"/>
              </a:spcAft>
              <a:buFont typeface="Calibri"/>
              <a:buChar char="–"/>
            </a:pPr>
            <a:r>
              <a:rPr sz="1150">
                <a:solidFill>
                  <a:srgbClr val="1A1A1A"/>
                </a:solidFill>
                <a:latin typeface="Calibri"/>
              </a:rPr>
              <a:t>RTU is a generic hard-limit abstraction, not a specific real device's configuration.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9AA1A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mbria"/>
              </a:rPr>
              <a:t>Complexity does not predict effectiveness</a:t>
            </a:r>
          </a:p>
        </p:txBody>
      </p:sp>
      <p:pic>
        <p:nvPicPr>
          <p:cNvPr id="4" name="Picture 3" descr="fig1_strateg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607" y="1554480"/>
            <a:ext cx="7276480" cy="26517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63040" y="4370832"/>
          <a:ext cx="9235440" cy="176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554480"/>
                <a:gridCol w="1554480"/>
                <a:gridCol w="1554480"/>
                <a:gridCol w="155448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marT="12700" marB="127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Complexity</a:t>
                      </a:r>
                    </a:p>
                  </a:txBody>
                  <a:tcPr marT="12700" marB="127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Seville</a:t>
                      </a:r>
                    </a:p>
                  </a:txBody>
                  <a:tcPr marT="12700" marB="127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Ouarzazate</a:t>
                      </a:r>
                    </a:p>
                  </a:txBody>
                  <a:tcPr marT="12700" marB="127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Edinburgh</a:t>
                      </a:r>
                    </a:p>
                  </a:txBody>
                  <a:tcPr marT="12700" marB="12700" anchor="ctr">
                    <a:solidFill>
                      <a:srgbClr val="1E2761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1. Reactive Baseline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2. Fixed Reserve</a:t>
                      </a:r>
                    </a:p>
                  </a:txBody>
                  <a:tcPr marT="12700" marB="127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12700" marB="127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T="12700" marB="127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12700" marB="127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T="12700" marB="12700" anchor="ctr">
                    <a:solidFill>
                      <a:srgbClr val="F4F6F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3. Forecast Binary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232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4. Proportional Reserve</a:t>
                      </a:r>
                    </a:p>
                  </a:txBody>
                  <a:tcPr marT="12700" marB="127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12700" marB="127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T="12700" marB="127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12700" marB="127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T="12700" marB="12700" anchor="ctr">
                    <a:solidFill>
                      <a:srgbClr val="F4F6F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5. Temperature-Based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231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6. Precharge</a:t>
                      </a:r>
                    </a:p>
                  </a:txBody>
                  <a:tcPr marT="12700" marB="127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12700" marB="127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12700" marB="127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12700" marB="127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T="12700" marB="12700" anchor="ctr">
                    <a:solidFill>
                      <a:srgbClr val="F4F6F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7. Rolling Horizon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63040" y="620420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1">
                <a:solidFill>
                  <a:srgbClr val="5B6372"/>
                </a:solidFill>
                <a:latin typeface="Calibri"/>
              </a:rPr>
              <a:t>Cold-starts per year, perfect forecast. Complexity is a manually assigned 1–5 score, not a measured runtime. Ouarzazate stays at zero for every strategy — a control case, not one where strategy choice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9AA1A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8C96C9"/>
                </a:solidFill>
                <a:latin typeface="Calibri"/>
              </a:rPr>
              <a:t>WATCH IT HAPPEN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The same 30 days, seven controllers, one reactor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C9CEE8"/>
                </a:solidFill>
                <a:latin typeface="Calibri"/>
              </a:rPr>
              <a:t>Edinburgh, Scotland — the worst 30-day stretch of the year, replayed hour by hour. Reactor temperature for all 7 strategies against the same weather (animates during the slideshow).</a:t>
            </a:r>
          </a:p>
        </p:txBody>
      </p:sp>
      <p:pic>
        <p:nvPicPr>
          <p:cNvPr id="5" name="Picture 4" descr="critical_period_scotlan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011680"/>
            <a:ext cx="9326880" cy="4352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9AA1A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WHAT WORKED, WHAT FAILED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mbria"/>
              </a:rPr>
              <a:t>The simplest strategy won — until the forecast got noisy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A3D"/>
                </a:solidFill>
                <a:latin typeface="Calibri"/>
              </a:rPr>
              <a:t>WHAT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5212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64592" marL="164592">
              <a:lnSpc>
                <a:spcPct val="118000"/>
              </a:lnSpc>
              <a:spcAft>
                <a:spcPts val="1000"/>
              </a:spcAft>
              <a:buFont typeface="Calibri"/>
              <a:buChar char="–"/>
            </a:pPr>
            <a:r>
              <a:rPr sz="1250">
                <a:solidFill>
                  <a:srgbClr val="1A1A1A"/>
                </a:solidFill>
                <a:latin typeface="Calibri"/>
              </a:rPr>
              <a:t>Precharge and Rolling Horizon fully eliminate cold-starts in Seville.</a:t>
            </a:r>
          </a:p>
          <a:p>
            <a:pPr indent="-164592" marL="164592">
              <a:lnSpc>
                <a:spcPct val="118000"/>
              </a:lnSpc>
              <a:spcAft>
                <a:spcPts val="1000"/>
              </a:spcAft>
              <a:buFont typeface="Calibri"/>
              <a:buChar char="–"/>
            </a:pPr>
            <a:r>
              <a:rPr sz="1250">
                <a:solidFill>
                  <a:srgbClr val="1A1A1A"/>
                </a:solidFill>
                <a:latin typeface="Calibri"/>
              </a:rPr>
              <a:t>Under a perfect forecast, simple Precharge beats expensive Rolling Horizon in Edinburgh: 66 cold-starts/yr vs. 100.</a:t>
            </a:r>
          </a:p>
          <a:p>
            <a:pPr indent="-164592" marL="164592">
              <a:lnSpc>
                <a:spcPct val="118000"/>
              </a:lnSpc>
              <a:spcAft>
                <a:spcPts val="1000"/>
              </a:spcAft>
              <a:buFont typeface="Calibri"/>
              <a:buChar char="–"/>
            </a:pPr>
            <a:r>
              <a:rPr sz="1250">
                <a:solidFill>
                  <a:srgbClr val="1A1A1A"/>
                </a:solidFill>
                <a:latin typeface="Calibri"/>
              </a:rPr>
              <a:t>That ranking reverses as forecast error grows — Rolling Horizon degrades gracefully and overtakes Precharge past ~10–20% error.</a:t>
            </a:r>
          </a:p>
          <a:p>
            <a:pPr indent="-164592" marL="164592">
              <a:lnSpc>
                <a:spcPct val="118000"/>
              </a:lnSpc>
              <a:spcAft>
                <a:spcPts val="1000"/>
              </a:spcAft>
              <a:buFont typeface="Calibri"/>
              <a:buChar char="–"/>
            </a:pPr>
            <a:r>
              <a:rPr sz="1250">
                <a:solidFill>
                  <a:srgbClr val="1A1A1A"/>
                </a:solidFill>
                <a:latin typeface="Calibri"/>
              </a:rPr>
              <a:t>No strategy reaches zero in Edinburgh: the 2,000 kWh battery is undersized for that climate's worst deficit, a limit the simulation makes visible rather than assumed.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7830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32A2A"/>
                </a:solidFill>
                <a:latin typeface="Calibri"/>
              </a:rPr>
              <a:t>WHAT FAILED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2240280"/>
            <a:ext cx="5212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64592" marL="164592">
              <a:lnSpc>
                <a:spcPct val="118000"/>
              </a:lnSpc>
              <a:spcAft>
                <a:spcPts val="1000"/>
              </a:spcAft>
              <a:buFont typeface="Calibri"/>
              <a:buChar char="–"/>
            </a:pPr>
            <a:r>
              <a:rPr sz="1250">
                <a:solidFill>
                  <a:srgbClr val="1A1A1A"/>
                </a:solidFill>
                <a:latin typeface="Calibri"/>
              </a:rPr>
              <a:t>Letting the electrolyzer/DAC draw partially from the battery above a reserve floor caused 300+ cold-starts/yr — worse than doing nothing.</a:t>
            </a:r>
          </a:p>
          <a:p>
            <a:pPr indent="-164592" marL="164592">
              <a:lnSpc>
                <a:spcPct val="118000"/>
              </a:lnSpc>
              <a:spcAft>
                <a:spcPts val="1000"/>
              </a:spcAft>
              <a:buFont typeface="Calibri"/>
              <a:buChar char="–"/>
            </a:pPr>
            <a:r>
              <a:rPr sz="1250">
                <a:solidFill>
                  <a:srgbClr val="1A1A1A"/>
                </a:solidFill>
                <a:latin typeface="Calibri"/>
              </a:rPr>
              <a:t>Cause: a single winter night's reactor-protection need (~760 kWh) already exceeds the largest reserve tested (800 kWh).</a:t>
            </a:r>
          </a:p>
          <a:p>
            <a:pPr indent="-164592" marL="164592">
              <a:lnSpc>
                <a:spcPct val="118000"/>
              </a:lnSpc>
              <a:spcAft>
                <a:spcPts val="1000"/>
              </a:spcAft>
              <a:buFont typeface="Calibri"/>
              <a:buChar char="–"/>
            </a:pPr>
            <a:r>
              <a:rPr sz="1250">
                <a:solidFill>
                  <a:srgbClr val="1A1A1A"/>
                </a:solidFill>
                <a:latin typeface="Calibri"/>
              </a:rPr>
              <a:t>The Temperature-Based strategy's formula was implemented backwards during development (larger reserve when hottest, none when coldest).</a:t>
            </a:r>
          </a:p>
          <a:p>
            <a:pPr indent="-164592" marL="164592">
              <a:lnSpc>
                <a:spcPct val="118000"/>
              </a:lnSpc>
              <a:spcAft>
                <a:spcPts val="1000"/>
              </a:spcAft>
              <a:buFont typeface="Calibri"/>
              <a:buChar char="–"/>
            </a:pPr>
            <a:r>
              <a:rPr sz="1250">
                <a:solidFill>
                  <a:srgbClr val="1A1A1A"/>
                </a:solidFill>
                <a:latin typeface="Calibri"/>
              </a:rPr>
              <a:t>Corrected, it still ties the baseline: the reactor's own maintenance logic pins it at minimum temperature within ~2 hours of every night, leaving the formula nothing to compute.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9AA1A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8C96C9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From simulated forecast error to a live decision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98755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64592" marL="164592">
              <a:lnSpc>
                <a:spcPct val="118000"/>
              </a:lnSpc>
              <a:spcAft>
                <a:spcPts val="1600"/>
              </a:spcAft>
              <a:buFont typeface="Calibri"/>
              <a:buChar char="–"/>
            </a:pPr>
            <a:r>
              <a:rPr b="1" sz="1500">
                <a:solidFill>
                  <a:srgbClr val="FFFFFF"/>
                </a:solidFill>
                <a:latin typeface="Calibri"/>
              </a:rPr>
              <a:t>Live forecasts.  </a:t>
            </a:r>
            <a:r>
              <a:rPr sz="1500">
                <a:solidFill>
                  <a:srgbClr val="E7E9F5"/>
                </a:solidFill>
                <a:latin typeface="Calibri"/>
              </a:rPr>
              <a:t>All 84 runs already cover imperfect forecasts, but as synthetic, independent Gaussian noise. Swap in a live weather feed, whose errors are time-correlated and often biased in ways white noise isn't, and see if the same strategy rankings hold.</a:t>
            </a:r>
          </a:p>
          <a:p>
            <a:pPr indent="-164592" marL="164592">
              <a:lnSpc>
                <a:spcPct val="118000"/>
              </a:lnSpc>
              <a:spcAft>
                <a:spcPts val="1600"/>
              </a:spcAft>
              <a:buFont typeface="Calibri"/>
              <a:buChar char="–"/>
            </a:pPr>
            <a:r>
              <a:rPr b="1" sz="1500">
                <a:solidFill>
                  <a:srgbClr val="FFFFFF"/>
                </a:solidFill>
                <a:latin typeface="Calibri"/>
              </a:rPr>
              <a:t>Hybrid strategies.  </a:t>
            </a:r>
            <a:r>
              <a:rPr sz="1500">
                <a:solidFill>
                  <a:srgbClr val="E7E9F5"/>
                </a:solidFill>
                <a:latin typeface="Calibri"/>
              </a:rPr>
              <a:t>Test designs no single strategy captures alone — e.g. a thermodynamic trigger paired with a rolling-horizon projection.</a:t>
            </a:r>
          </a:p>
          <a:p>
            <a:pPr indent="-164592" marL="164592">
              <a:lnSpc>
                <a:spcPct val="118000"/>
              </a:lnSpc>
              <a:spcAft>
                <a:spcPts val="1600"/>
              </a:spcAft>
              <a:buFont typeface="Calibri"/>
              <a:buChar char="–"/>
            </a:pPr>
            <a:r>
              <a:rPr b="1" sz="1500">
                <a:solidFill>
                  <a:srgbClr val="FFFFFF"/>
                </a:solidFill>
                <a:latin typeface="Calibri"/>
              </a:rPr>
              <a:t>Closed-loop chemistry.  </a:t>
            </a:r>
            <a:r>
              <a:rPr sz="1500">
                <a:solidFill>
                  <a:srgbClr val="E7E9F5"/>
                </a:solidFill>
                <a:latin typeface="Calibri"/>
              </a:rPr>
              <a:t>Couple the reactor's thermal state to an explicit H₂/CO₂ mass balance for a fully closed-loop yield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1">
                <a:solidFill>
                  <a:srgbClr val="C9CEE8"/>
                </a:solidFill>
                <a:latin typeface="Calibri"/>
              </a:rPr>
              <a:t>The answer to “which life-insurance strategy is worth its complexity” depends on climate and on how much you trust your forecast — and this project turns that into something computable instead of guessed 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8C96C9"/>
                </a:solidFill>
                <a:latin typeface="Calibri"/>
              </a:rPr>
              <a:t>github.com/GRKG9T/SoTA-Commission-II-Intermittent-Abundance-Csontos-Tamas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9AA1A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
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BESS as Process</a:t>
            </a:r>
          </a:p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Life-Insurance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611880"/>
            <a:ext cx="96012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Which reservation strategy, and when?</a:t>
            </a:r>
          </a:p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700" b="0" i="0">
                <a:solidFill>
                  <a:srgbClr val="C9CEE8"/>
                </a:solidFill>
                <a:latin typeface="Calibri"/>
              </a:rPr>
              <a:t>A systematic comparison for intermittent solar-to-methane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8C96C9"/>
                </a:solidFill>
                <a:latin typeface="Calibri"/>
              </a:rPr>
              <a:t>SOTA COMMISSION II  —  INTERMITTENT ABUNDANCE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A cold reactor costs more than a lost kilowatt-hour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63093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500" b="0" i="0">
                <a:solidFill>
                  <a:srgbClr val="1A1A1A"/>
                </a:solidFill>
                <a:latin typeface="Calibri"/>
              </a:rPr>
              <a:t>Remote, off-grid plants that convert solar electricity into a storable fuel, here synthetic methane via Sabatier synthesis, run into an intermittency problem that conventional battery controllers do not account for.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63240"/>
            <a:ext cx="63093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Every kWh looks the same.  </a:t>
            </a:r>
            <a:r>
              <a:rPr sz="1350">
                <a:solidFill>
                  <a:srgbClr val="1A1A1A"/>
                </a:solidFill>
                <a:latin typeface="Calibri"/>
              </a:rPr>
              <a:t>A controller that only tracks the electrical balance treats an idled electrolyzer the same as a reactor left to go cold.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Cold means idle.  </a:t>
            </a:r>
            <a:r>
              <a:rPr sz="1350">
                <a:solidFill>
                  <a:srgbClr val="1A1A1A"/>
                </a:solidFill>
                <a:latin typeface="Calibri"/>
              </a:rPr>
              <a:t>Restarting the Sabatier reactor costs 4–6 hours of dedicated, high-power reheating — time that comes directly out of production.</a:t>
            </a:r>
          </a:p>
          <a:p>
            <a:pPr indent="-164592" marL="164592">
              <a:lnSpc>
                <a:spcPct val="118000"/>
              </a:lnSpc>
              <a:spcAft>
                <a:spcPts val="800"/>
              </a:spcAft>
              <a:buFont typeface="Calibri"/>
              <a:buChar char="–"/>
            </a:pPr>
            <a:r>
              <a:rPr b="1" sz="1350">
                <a:solidFill>
                  <a:srgbClr val="1E2761"/>
                </a:solidFill>
                <a:latin typeface="Calibri"/>
              </a:rPr>
              <a:t>The real question.  </a:t>
            </a:r>
            <a:r>
              <a:rPr sz="1350">
                <a:solidFill>
                  <a:srgbClr val="1A1A1A"/>
                </a:solidFill>
                <a:latin typeface="Calibri"/>
              </a:rPr>
              <a:t>An earlier prototype showed proactive battery reservation helps. But reservation is a whole design space — which mechanism is worth building, and where?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60920" y="1783080"/>
            <a:ext cx="4160520" cy="416052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657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400" b="1" i="0">
                <a:solidFill>
                  <a:srgbClr val="1E2761"/>
                </a:solidFill>
                <a:latin typeface="Cambria"/>
              </a:rPr>
              <a:t>4–6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3246120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5B6372"/>
                </a:solidFill>
                <a:latin typeface="Calibri"/>
              </a:rPr>
              <a:t>HOURS OF LOST PRODUCTION PER COLD-START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35240" y="3977639"/>
            <a:ext cx="35661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This project builds and compares seven distinct battery-reservation strategies on one shared digital twin, across three climates and four levels of forecast error — 84 full-year simulations in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ARCHITECTURE &amp; ASSUMPTIONS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One digital twin, seven interchangeable strategies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DF0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92630E"/>
                </a:solidFill>
                <a:latin typeface="Calibri"/>
              </a:rPr>
              <a:t>PV Array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83280" y="1874519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1A1A1A"/>
                </a:solidFill>
                <a:latin typeface="Calibri"/>
              </a:rPr>
              <a:t>Electrolyzer
+ DAC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679192" y="2048255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679192" y="2258567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PV surplus only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Battery
(BESS)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3044951"/>
            <a:ext cx="1965960" cy="566928"/>
          </a:xfrm>
          <a:prstGeom prst="roundRect">
            <a:avLst>
              <a:gd name="adj" fmla="val 12000"/>
            </a:avLst>
          </a:prstGeom>
          <a:solidFill>
            <a:srgbClr val="FC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150" b="1">
                <a:solidFill>
                  <a:srgbClr val="9A2A2A"/>
                </a:solidFill>
                <a:latin typeface="Calibri"/>
              </a:rPr>
              <a:t>Sabatier reactor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79192" y="3218687"/>
            <a:ext cx="630936" cy="219456"/>
          </a:xfrm>
          <a:prstGeom prst="right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9192" y="3428999"/>
            <a:ext cx="63093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850" b="0" i="1">
                <a:solidFill>
                  <a:srgbClr val="5B6372"/>
                </a:solidFill>
                <a:latin typeface="Calibri"/>
              </a:rPr>
              <a:t>full battery access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513332" y="2487167"/>
            <a:ext cx="219456" cy="512064"/>
          </a:xfrm>
          <a:prstGeom prst="downArrow">
            <a:avLst/>
          </a:prstGeom>
          <a:solidFill>
            <a:srgbClr val="9AA1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886199"/>
            <a:ext cx="4709160" cy="457200"/>
          </a:xfrm>
          <a:prstGeom prst="roundRect">
            <a:avLst>
              <a:gd name="adj" fmla="val 12000"/>
            </a:avLst>
          </a:prstGeom>
          <a:solidFill>
            <a:srgbClr val="2B3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RTU  —  deterministic hard-limit layer (SOC bounds, load caps, reserve lock)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453127"/>
            <a:ext cx="47091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Seven strategy modules plug into one shared decide() interface that sets both paths every hour —</a:t>
            </a:r>
          </a:p>
          <a:p>
            <a:pPr algn="ctr">
              <a:lnSpc>
                <a:spcPct val="125000"/>
              </a:lnSpc>
              <a:spcAft>
                <a:spcPts val="0"/>
              </a:spcAft>
            </a:pPr>
            <a:r>
              <a:rPr sz="1050" b="0" i="1">
                <a:solidFill>
                  <a:srgbClr val="5B6372"/>
                </a:solidFill>
                <a:latin typeface="Calibri"/>
              </a:rPr>
              <a:t>only the control logic changes between runs; the electrolyzer/DAC allocation rule itself is identical for all seven, just switched on or off differently.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828800"/>
            <a:ext cx="3291840" cy="4206240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0" y="2057400"/>
            <a:ext cx="2743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E2761"/>
                </a:solidFill>
                <a:latin typeface="Calibri"/>
              </a:rPr>
              <a:t>ASSUMPTIONS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03920" y="2468880"/>
            <a:ext cx="2788920" cy="3383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Sabatier cooling omits the reaction's own exothermic heat (conservative — real reactors cool somewhat more slowly).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Battery model excludes long-term degradation.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Forecast error is additive Gaussian noise, not the time-correlated, often-asymmetric error of real forecasts.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150">
                <a:solidFill>
                  <a:srgbClr val="1A1A1A"/>
                </a:solidFill>
                <a:latin typeface="Calibri"/>
              </a:rPr>
              <a:t>RTU is a generic hard-limit abstraction, not a specific real device's configuration.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THE STRATEGIES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Same switch, seven different triggers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350" b="0" i="1">
                <a:solidFill>
                  <a:srgbClr val="5B6372"/>
                </a:solidFill>
                <a:latin typeface="Calibri"/>
              </a:rPr>
              <a:t>Every strategy flips the same switch — whether the electrolyzer/DAC keep drawing PV surplus, or hand all of it to the battery. What changes is only the signal that decides when.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408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94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86000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1. Reactive 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2286000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No forecast, no reserve — electrolyzer and DAC are never proactively switched off. The reference point the other six are compared against.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2608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2. Fixed Reserve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871216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No forecast: switches off whenever the battery's own charge drops below a fixed threshold, regardless of tomorrow's weather.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511296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56432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3. Forecast Binary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3456432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Sums the forecast window into one deficit number; if it's short, switches off with a fixed-size reserve.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096512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041648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4. Proportional Reserve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4041648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Same deficit signal as Forecast Binary, but scales the reserve to how severe it is, then projects the battery's trajectory with that margin.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681728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F9731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626864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5. Temperature-Based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4626864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Sizes the reserve from Newton's law of cooling: a hot reactor has more free cooling time, so it needs less protection than a cold one.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26694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212080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6. Precharge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5212080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Switches off earliest, whenever the forecast's average PV output falls below a fixed fraction of capacity — before any deficit is even computable.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852160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97296"/>
            <a:ext cx="246888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50" b="1" i="0">
                <a:solidFill>
                  <a:srgbClr val="1A1A1A"/>
                </a:solidFill>
                <a:latin typeface="Calibri"/>
              </a:rPr>
              <a:t>7. Rolling Horizon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5797296"/>
            <a:ext cx="8001000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150" b="0" i="0">
                <a:solidFill>
                  <a:srgbClr val="5B6372"/>
                </a:solidFill>
                <a:latin typeface="Calibri"/>
              </a:rPr>
              <a:t>Projects the battery's charge hour-by-hour across the whole forecast window and reacts to its lowest point, not just the total.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Complexity does not predict effectiveness</a:t>
            </a:r>
          </a:p>
        </p:txBody>
      </p:sp>
      <p:pic>
        <p:nvPicPr>
          <p:cNvPr id="4" name="Picture 3" descr="fig1_strategy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7607" y="1554480"/>
            <a:ext cx="7276480" cy="2651760"/>
          </a:xfrm>
          <a:prstGeom prst="rect">
            <a:avLst/>
          </a:prstGeom>
        </p:spPr>
      </p:pic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463040" y="4370832"/>
          <a:ext cx="92354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1554480"/>
                <a:gridCol w="1554480"/>
                <a:gridCol w="1554480"/>
                <a:gridCol w="1554480"/>
              </a:tblGrid>
              <a:tr h="256032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Strategy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Complexity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Seville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Ouarzazate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Edinburgh</a:t>
                      </a:r>
                    </a:p>
                  </a:txBody>
                  <a:tcPr marT="12700" marB="12700" anchor="ctr">
                    <a:solidFill>
                      <a:srgbClr val="1E2761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1. Reactive Baseline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2. Fixed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180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3. Forecast Binary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232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4. Proportional Reserve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141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5. Temperature-Based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29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231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6. Precharge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66</a:t>
                      </a:r>
                    </a:p>
                  </a:txBody>
                  <a:tcPr marT="12700" marB="12700" anchor="ctr">
                    <a:solidFill>
                      <a:srgbClr val="F4F6F8"/>
                    </a:solidFill>
                  </a:tcPr>
                </a:tc>
              </a:tr>
              <a:tr h="214884">
                <a:tc>
                  <a:txBody>
                    <a:bodyPr/>
                    <a:lstStyle/>
                    <a:p>
                      <a:pPr algn="l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7. Rolling Horizon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1A1A1A"/>
                          </a:solidFill>
                          <a:latin typeface="Calibri"/>
                        </a:rPr>
                        <a:t>100</a:t>
                      </a:r>
                    </a:p>
                  </a:txBody>
                  <a:tcPr marT="12700" marB="127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1463040" y="620420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50" b="0" i="1">
                <a:solidFill>
                  <a:srgbClr val="5B6372"/>
                </a:solidFill>
                <a:latin typeface="Calibri"/>
              </a:rPr>
              <a:t>Cold-starts per year, perfect forecast. Complexity is a manually assigned 1–5 score, not a measured runtime. Ouarzazate stays at zero for every strategy — a control case, not one where strategy choice matters.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WATCH IT HAPPEN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mbria"/>
              </a:rPr>
              <a:t>The same 30 days, seven controllers, one reactor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C9CEE8"/>
                </a:solidFill>
                <a:latin typeface="Calibri"/>
              </a:rPr>
              <a:t>Edinburgh, Scotland — the worst 30-day stretch of the year, replayed hour by hour. Reactor temperature for all 7 strategies against the same weather (animates during the slideshow).</a:t>
            </a:r>
          </a:p>
        </p:txBody>
      </p:sp>
      <p:pic>
        <p:nvPicPr>
          <p:cNvPr id="5" name="Picture 4" descr="critical_period_scotland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20" y="2011680"/>
            <a:ext cx="9326880" cy="43525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E2761"/>
                </a:solidFill>
                <a:latin typeface="Calibri"/>
              </a:rPr>
              <a:t>WHAT WORKED, WHAT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A1A1A"/>
                </a:solidFill>
                <a:latin typeface="Cambria"/>
              </a:rPr>
              <a:t>The simplest strategy won — until the forecast got noisy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0F7A3D"/>
                </a:solidFill>
                <a:latin typeface="Calibri"/>
              </a:rPr>
              <a:t>WHAT WORKED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Precharge and Rolling Horizon fully eliminate cold-starts in Seville.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Under a perfect forecast, simple Precharge beats the more complex Rolling Horizon in Edinburgh: 66 cold-starts/yr vs. 100.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That ranking reverses as forecast error grows — Rolling Horizon degrades gracefully and overtakes Precharge past ~10–20% error.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No strategy reaches zero in Edinburgh: the 2,000 kWh battery is undersized for that climate's worst deficit, a limit the simulation makes visible rather than assumed.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55080" y="178308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B32A2A"/>
                </a:solidFill>
                <a:latin typeface="Calibri"/>
              </a:rPr>
              <a:t>WHAT FAILED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2240280"/>
            <a:ext cx="521208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Letting the electrolyzer/DAC draw partially from the battery above a reserve floor caused 300+ cold-starts/yr — worse than doing nothing.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Cause: a single winter night's reactor-protection need (~760 kWh) already uses nearly all of the largest reserve tested (800 kWh) — no margin for a second night, let alone a real multi-day deficit.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The Temperature-Based strategy's formula was implemented backwards during development (larger reserve when hottest, none when coldest).</a:t>
            </a:r>
          </a:p>
          <a:p>
            <a:pPr indent="-164592" marL="164592">
              <a:lnSpc>
                <a:spcPct val="118000"/>
              </a:lnSpc>
              <a:spcAft>
                <a:spcPts val="1000"/>
              </a:spcAft>
              <a:buFont typeface="Calibri"/>
              <a:buChar char="–"/>
            </a:pPr>
            <a:r>
              <a:rPr sz="1250">
                <a:solidFill>
                  <a:srgbClr val="1A1A1A"/>
                </a:solidFill>
                <a:latin typeface="Calibri"/>
              </a:rPr>
              <a:t>Corrected, it still ties the baseline: the reactor's own maintenance logic pins it at minimum temperature within ~2 hours of every night, leaving the formula nothing to compute.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B4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8C96C9"/>
                </a:solidFill>
                <a:latin typeface="Calibri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mbria"/>
              </a:rPr>
              <a:t>From simulated forecast error to a live decision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98755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Live forecasts.  </a:t>
            </a:r>
            <a:r>
              <a:rPr sz="1500">
                <a:solidFill>
                  <a:srgbClr val="E7E9F5"/>
                </a:solidFill>
                <a:latin typeface="Calibri"/>
              </a:rPr>
              <a:t>All 84 runs already cover imperfect forecasts, but as synthetic, independent Gaussian noise. Swap in a live weather feed, whose errors are time-correlated and often biased in ways white noise isn't, and see if the same strategy rankings hold.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Hybrid strategies.  </a:t>
            </a:r>
            <a:r>
              <a:rPr sz="1500">
                <a:solidFill>
                  <a:srgbClr val="E7E9F5"/>
                </a:solidFill>
                <a:latin typeface="Calibri"/>
              </a:rPr>
              <a:t>Test designs no single strategy captures alone — e.g. a thermodynamic trigger paired with a rolling-horizon projection.</a:t>
            </a:r>
          </a:p>
          <a:p>
            <a:pPr indent="-164592" marL="164592">
              <a:lnSpc>
                <a:spcPct val="118000"/>
              </a:lnSpc>
              <a:spcAft>
                <a:spcPts val="1600"/>
              </a:spcAft>
              <a:buFont typeface="Calibri"/>
              <a:buChar char="–"/>
            </a:pPr>
            <a:r>
              <a:rPr b="1" sz="1500">
                <a:solidFill>
                  <a:srgbClr val="FFFFFF"/>
                </a:solidFill>
                <a:latin typeface="Calibri"/>
              </a:rPr>
              <a:t>Closed-loop chemistry.  </a:t>
            </a:r>
            <a:r>
              <a:rPr sz="1500">
                <a:solidFill>
                  <a:srgbClr val="E7E9F5"/>
                </a:solidFill>
                <a:latin typeface="Calibri"/>
              </a:rPr>
              <a:t>Couple the reactor's thermal state to an explicit H₂/CO₂ mass balance for a fully closed-loop yield model.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709160"/>
            <a:ext cx="9875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400" b="0" i="1">
                <a:solidFill>
                  <a:srgbClr val="C9CEE8"/>
                </a:solidFill>
                <a:latin typeface="Calibri"/>
              </a:rPr>
              <a:t>The answer to “which life-insurance strategy is worth its complexity” depends on climate and on how much you trust your forecast — and this project turns that into something computable instead of guessed at.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8076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8C96C9"/>
                </a:solidFill>
                <a:latin typeface="Calibri"/>
              </a:rPr>
              <a:t>github.com/GRKG9T/SoTA-Commission-II-Intermittent-Abundance-Csontos-Tamas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00800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000" b="0" i="0">
                <a:solidFill>
                  <a:srgbClr val="9AA1A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